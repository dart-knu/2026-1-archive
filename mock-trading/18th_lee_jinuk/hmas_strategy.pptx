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3460750" cx="4610100"/>
  <p:notesSz cx="4610100" cy="3460750"/>
  <p:embeddedFontLst>
    <p:embeddedFont>
      <p:font typeface="Tahoma"/>
      <p:regular r:id="rId17"/>
      <p:bold r:id="rId18"/>
    </p:embeddedFont>
    <p:embeddedFont>
      <p:font typeface="Bodoni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A96633-FC0D-4E29-B83C-566DAA5C54E1}">
  <a:tblStyle styleId="{35A96633-FC0D-4E29-B83C-566DAA5C54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Bodoni-bold.fntdata"/><Relationship Id="rId11" Type="http://schemas.openxmlformats.org/officeDocument/2006/relationships/slide" Target="slides/slide5.xml"/><Relationship Id="rId22" Type="http://schemas.openxmlformats.org/officeDocument/2006/relationships/font" Target="fonts/Bodoni-boldItalic.fntdata"/><Relationship Id="rId10" Type="http://schemas.openxmlformats.org/officeDocument/2006/relationships/slide" Target="slides/slide4.xml"/><Relationship Id="rId21" Type="http://schemas.openxmlformats.org/officeDocument/2006/relationships/font" Target="fonts/Bodoni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7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Bodoni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c752a4a68_0_3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dc752a4a68_0_3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c752a4a68_0_42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dc752a4a68_0_42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752a4a68_0_48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c752a4a68_0_48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0896" y="63726"/>
            <a:ext cx="90360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F9F9F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47294" y="1994174"/>
            <a:ext cx="2132965" cy="41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4379505" y="3192269"/>
            <a:ext cx="180467" cy="1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4379505" y="3192269"/>
            <a:ext cx="180467" cy="1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5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4"/>
          <p:cNvSpPr/>
          <p:nvPr/>
        </p:nvSpPr>
        <p:spPr>
          <a:xfrm>
            <a:off x="0" y="50"/>
            <a:ext cx="4608195" cy="351790"/>
          </a:xfrm>
          <a:custGeom>
            <a:rect b="b" l="l" r="r" t="t"/>
            <a:pathLst>
              <a:path extrusionOk="0" h="351790" w="4608195">
                <a:moveTo>
                  <a:pt x="4608004" y="0"/>
                </a:moveTo>
                <a:lnTo>
                  <a:pt x="0" y="0"/>
                </a:lnTo>
                <a:lnTo>
                  <a:pt x="0" y="351789"/>
                </a:lnTo>
                <a:lnTo>
                  <a:pt x="4608004" y="351789"/>
                </a:lnTo>
                <a:lnTo>
                  <a:pt x="4608004" y="0"/>
                </a:lnTo>
                <a:close/>
              </a:path>
            </a:pathLst>
          </a:custGeom>
          <a:solidFill>
            <a:srgbClr val="4E36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110896" y="44739"/>
            <a:ext cx="1610995" cy="226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F9F9F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587705" y="1166273"/>
            <a:ext cx="333438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4379505" y="3192269"/>
            <a:ext cx="180467" cy="1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10896" y="44739"/>
            <a:ext cx="1610995" cy="226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F9F9F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379505" y="3192269"/>
            <a:ext cx="180467" cy="1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110896" y="44739"/>
            <a:ext cx="1610995" cy="226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F9F9F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379505" y="3192269"/>
            <a:ext cx="180467" cy="1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5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10896" y="44739"/>
            <a:ext cx="1610995" cy="226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9F9F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87705" y="1166273"/>
            <a:ext cx="333438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4379505" y="3192269"/>
            <a:ext cx="180467" cy="1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43815">
              <a:lnSpc>
                <a:spcPct val="100000"/>
              </a:lnSpc>
              <a:spcBef>
                <a:spcPts val="0"/>
              </a:spcBef>
              <a:buNone/>
              <a:defRPr b="0" i="0" sz="700">
                <a:solidFill>
                  <a:srgbClr val="22373A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/>
        </p:nvSpPr>
        <p:spPr>
          <a:xfrm>
            <a:off x="319121" y="1318861"/>
            <a:ext cx="4267200" cy="273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H-MAS</a:t>
            </a:r>
            <a:endParaRPr b="1" sz="1700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밤하늘 밝은 스타즈 및 블루 성운은 - 로열티 프리 하늘 스톡 사진" id="47" name="Google Shape;47;p7"/>
          <p:cNvSpPr/>
          <p:nvPr/>
        </p:nvSpPr>
        <p:spPr>
          <a:xfrm>
            <a:off x="2304046" y="136379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48" name="Google Shape;48;p7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1771650"/>
                <a:gridCol w="28384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Bodoni"/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  <a:ea typeface="Bodoni"/>
                          <a:cs typeface="Bodoni"/>
                          <a:sym typeface="Bodoni"/>
                        </a:rPr>
                        <a:t xml:space="preserve">    </a:t>
                      </a:r>
                      <a:r>
                        <a:rPr b="0" lang="en-US" sz="800" u="none" cap="none" strike="noStrike">
                          <a:solidFill>
                            <a:schemeClr val="lt1"/>
                          </a:solidFill>
                          <a:latin typeface="Bodoni"/>
                          <a:ea typeface="Bodoni"/>
                          <a:cs typeface="Bodoni"/>
                          <a:sym typeface="Bodoni"/>
                        </a:rPr>
                        <a:t>DART</a:t>
                      </a:r>
                      <a:endParaRPr/>
                    </a:p>
                  </a:txBody>
                  <a:tcPr marT="25200" marB="252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2026-1 DART Boot Camp H-MAS | KOSPI Agent Backtest Strategy | 2026-03-26</a:t>
                      </a:r>
                      <a:r>
                        <a:rPr b="0" baseline="30000" lang="en-US" sz="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</a:t>
                      </a: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 Choi Munseok, 16</a:t>
                      </a:r>
                      <a:r>
                        <a:rPr b="0" baseline="30000" lang="en-US" sz="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</a:t>
                      </a: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 Sim Jaewook |  2026-03-10</a:t>
                      </a:r>
                      <a:endParaRPr b="0" sz="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200" marB="252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49" name="Google Shape;49;p7"/>
          <p:cNvSpPr txBox="1"/>
          <p:nvPr/>
        </p:nvSpPr>
        <p:spPr>
          <a:xfrm>
            <a:off x="321842" y="1624439"/>
            <a:ext cx="4343769" cy="166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Hierarchical Multi-Agent System / KOSPI 모의투자전략</a:t>
            </a:r>
            <a:endParaRPr sz="10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8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2305050"/>
                <a:gridCol w="23050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</a:rPr>
                        <a:t xml:space="preserve">   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Bodon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</a:rPr>
                        <a:t>H-MAS – [1]</a:t>
                      </a:r>
                      <a:endParaRPr b="0" sz="500" u="none" cap="none" strike="noStrike">
                        <a:latin typeface="Calibr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55" name="Google Shape;55;p8"/>
          <p:cNvSpPr/>
          <p:nvPr/>
        </p:nvSpPr>
        <p:spPr>
          <a:xfrm>
            <a:off x="0" y="49"/>
            <a:ext cx="4610100" cy="293555"/>
          </a:xfrm>
          <a:custGeom>
            <a:rect b="b" l="l" r="r" t="t"/>
            <a:pathLst>
              <a:path extrusionOk="0" h="351790" w="4608195">
                <a:moveTo>
                  <a:pt x="4608004" y="0"/>
                </a:moveTo>
                <a:lnTo>
                  <a:pt x="0" y="0"/>
                </a:lnTo>
                <a:lnTo>
                  <a:pt x="0" y="351789"/>
                </a:lnTo>
                <a:lnTo>
                  <a:pt x="4608004" y="351789"/>
                </a:lnTo>
                <a:lnTo>
                  <a:pt x="4608004" y="0"/>
                </a:lnTo>
                <a:close/>
              </a:path>
            </a:pathLst>
          </a:custGeom>
          <a:solidFill>
            <a:srgbClr val="161C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" name="Google Shape;56;p8"/>
          <p:cNvSpPr txBox="1"/>
          <p:nvPr/>
        </p:nvSpPr>
        <p:spPr>
          <a:xfrm>
            <a:off x="1656397" y="33013"/>
            <a:ext cx="1295400" cy="21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lt1"/>
                </a:solidFill>
                <a:latin typeface="Calibri"/>
              </a:rPr>
              <a:t>목차</a:t>
            </a:r>
            <a:endParaRPr sz="130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350638" y="437713"/>
            <a:ext cx="390691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latin typeface="Calibri"/>
              </a:rPr>
              <a:t>1. 시스템 개요 (H-MAS Architecture)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latin typeface="Calibri"/>
              </a:rPr>
              <a:t>2. 매크로 분석 (Macro Agent)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latin typeface="Calibri"/>
              </a:rPr>
              <a:t>3. 기술적/정량적 분석 (Technical + Quant Agent)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latin typeface="Calibri"/>
              </a:rPr>
              <a:t>4. 포트폴리오 관리 전략 (PM Agent)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latin typeface="Calibri"/>
              </a:rPr>
              <a:t>5. 백테스트 결과 및 결론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footer200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2305050"/>
                <a:gridCol w="23050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</a:rPr>
                        <a:t xml:space="preserve">   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Bodon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</a:rPr>
                        <a:t>H-MAS – [2]</a:t>
                      </a:r>
                      <a:endParaRPr b="0" sz="500" u="none" cap="none" strike="noStrike">
                        <a:latin typeface="Calibr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201" name="bar201"/>
          <p:cNvSpPr/>
          <p:nvPr/>
        </p:nvSpPr>
        <p:spPr>
          <a:xfrm>
            <a:off x="0" y="49"/>
            <a:ext cx="4610100" cy="270000"/>
          </a:xfrm>
          <a:custGeom>
            <a:rect b="b" l="l" r="r" t="t"/>
            <a:pathLst>
              <a:path extrusionOk="0" h="270000" w="4610100">
                <a:moveTo>
                  <a:pt x="4610100" y="0"/>
                </a:moveTo>
                <a:lnTo>
                  <a:pt x="0" y="0"/>
                </a:lnTo>
                <a:lnTo>
                  <a:pt x="0" y="270000"/>
                </a:lnTo>
                <a:lnTo>
                  <a:pt x="4610100" y="270000"/>
                </a:lnTo>
                <a:lnTo>
                  <a:pt x="4610100" y="0"/>
                </a:lnTo>
                <a:close/>
              </a:path>
            </a:pathLst>
          </a:custGeom>
          <a:solidFill>
            <a:srgbClr val="161C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2" name="title202"/>
          <p:cNvSpPr txBox="1"/>
          <p:nvPr/>
        </p:nvSpPr>
        <p:spPr>
          <a:xfrm>
            <a:off x="95250" y="20000"/>
            <a:ext cx="4420000" cy="24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0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0">
                <a:solidFill>
                  <a:schemeClr val="lt1"/>
                </a:solidFill>
                <a:latin typeface="Calibri"/>
              </a:rPr>
              <a:t>1.  시스템 개요  (H-MAS Architecture)</a:t>
            </a:r>
            <a:endParaRPr sz="1050">
              <a:solidFill>
                <a:schemeClr val="lt1"/>
              </a:solidFill>
            </a:endParaRPr>
          </a:p>
        </p:txBody>
      </p:sp>
      <p:sp>
        <p:nvSpPr>
          <p:cNvPr id="203" name="body203"/>
          <p:cNvSpPr txBox="1"/>
          <p:nvPr/>
        </p:nvSpPr>
        <p:spPr>
          <a:xfrm>
            <a:off x="200000" y="320000"/>
            <a:ext cx="4150000" cy="28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0000" lIns="60000" spcFirstLastPara="0" rIns="60000" wrap="square" tIns="3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1150">
                <a:solidFill>
                  <a:srgbClr val="161C3C"/>
                </a:solidFill>
                <a:latin typeface="Calibri"/>
              </a:rPr>
              <a:t>H-MAS 계층형 멀티에이전트 아키텍처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900">
                <a:solidFill>
                  <a:srgbClr val="1A3A6B"/>
                </a:solidFill>
                <a:latin typeface="Calibri"/>
              </a:rPr>
              <a:t>[ Top-Down Layer ]  Macro Agent (B.6)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US/JP 거시지표(금리·CPI·환율·GDP) + RoC 분석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시장 레짐 분류: Risk-On / Risk-Off / Transitional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- 5개 차원 점수: Market · Risk · Economy · Rates · Inflation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900">
                <a:solidFill>
                  <a:srgbClr val="1A3A6B"/>
                </a:solidFill>
                <a:latin typeface="Calibri"/>
              </a:rPr>
              <a:t>[ Bottom-Up Layer ]  Technical + Quant + News + Qual Agent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Technical: EMA/MACD/RSI-14/BB/RoC-5/RoC-21  (O(1) 스트리밍)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Quant: ROE·PER·PBR·FCF·D/E 등 5개 차원 재무점수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News: 뉴스 감성분석 → 즉각 리스크 탐지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Qual: 경영진 신뢰도·비즈니스 모멘텀 정성 평가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900">
                <a:solidFill>
                  <a:srgbClr val="1A3A6B"/>
                </a:solidFill>
                <a:latin typeface="Calibri"/>
              </a:rPr>
              <a:t>[ Integration Layer ]  PM Agent (B.7)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레짐별 팩터 가중치: Risk-On(Tech 40%) / Risk-Off(Fundamental 60%)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- 최종 투자점수(0~100) + 한국어 근거 생성 (150자)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footer300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2305050"/>
                <a:gridCol w="23050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</a:rPr>
                        <a:t xml:space="preserve">   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Bodon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</a:rPr>
                        <a:t>H-MAS – [3]</a:t>
                      </a:r>
                      <a:endParaRPr b="0" sz="500" u="none" cap="none" strike="noStrike">
                        <a:latin typeface="Calibr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301" name="bar301"/>
          <p:cNvSpPr/>
          <p:nvPr/>
        </p:nvSpPr>
        <p:spPr>
          <a:xfrm>
            <a:off x="0" y="49"/>
            <a:ext cx="4610100" cy="270000"/>
          </a:xfrm>
          <a:custGeom>
            <a:rect b="b" l="l" r="r" t="t"/>
            <a:pathLst>
              <a:path extrusionOk="0" h="270000" w="4610100">
                <a:moveTo>
                  <a:pt x="4610100" y="0"/>
                </a:moveTo>
                <a:lnTo>
                  <a:pt x="0" y="0"/>
                </a:lnTo>
                <a:lnTo>
                  <a:pt x="0" y="270000"/>
                </a:lnTo>
                <a:lnTo>
                  <a:pt x="4610100" y="270000"/>
                </a:lnTo>
                <a:lnTo>
                  <a:pt x="4610100" y="0"/>
                </a:lnTo>
                <a:close/>
              </a:path>
            </a:pathLst>
          </a:custGeom>
          <a:solidFill>
            <a:srgbClr val="161C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title302"/>
          <p:cNvSpPr txBox="1"/>
          <p:nvPr/>
        </p:nvSpPr>
        <p:spPr>
          <a:xfrm>
            <a:off x="95250" y="20000"/>
            <a:ext cx="4420000" cy="24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0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0">
                <a:solidFill>
                  <a:schemeClr val="lt1"/>
                </a:solidFill>
                <a:latin typeface="Calibri"/>
              </a:rPr>
              <a:t>2.  매크로 분석  (Macro Agent)</a:t>
            </a:r>
            <a:endParaRPr sz="1050">
              <a:solidFill>
                <a:schemeClr val="lt1"/>
              </a:solidFill>
            </a:endParaRPr>
          </a:p>
        </p:txBody>
      </p:sp>
      <p:sp>
        <p:nvSpPr>
          <p:cNvPr id="303" name="body303"/>
          <p:cNvSpPr txBox="1"/>
          <p:nvPr/>
        </p:nvSpPr>
        <p:spPr>
          <a:xfrm>
            <a:off x="200000" y="320000"/>
            <a:ext cx="4150000" cy="28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0000" lIns="60000" spcFirstLastPara="0" rIns="60000" wrap="square" tIns="3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1150">
                <a:solidFill>
                  <a:srgbClr val="161C3C"/>
                </a:solidFill>
                <a:latin typeface="Calibri"/>
              </a:rPr>
              <a:t>MacroAgent — 시장 레짐 분류 및 점수화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900">
                <a:solidFill>
                  <a:srgbClr val="1A3A6B"/>
                </a:solidFill>
                <a:latin typeface="Calibri"/>
              </a:rPr>
              <a:t>입력 데이터  (MacroIndicators)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금리/정책:  US Fed Rate · US 10Y Yield · JP Policy Rate · JP 10Y Yield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물가/원자재:  US CPI YoY · JP CPI YoY · Gold · Crude Oil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경제활동:  US GDP QoQ · JP GDP QoQ · US 실업률 · JP 실업률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리스크:  VIX · KRW/USD · KOSPI Index 수준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60">
                <a:solidFill>
                  <a:srgbClr val="666666"/>
                </a:solidFill>
                <a:latin typeface="Calibri"/>
              </a:rPr>
              <a:t xml:space="preserve">  ※ 전지표: 현재값(value) + 전기대비 변화율(roc_pct) 병용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900">
                <a:solidFill>
                  <a:srgbClr val="1A3A6B"/>
                </a:solidFill>
                <a:latin typeface="Calibri"/>
              </a:rPr>
              <a:t>출력  (MacroAgentOutput)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composite_score: 0~100  (시장 전반 투자 우호도)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5개 차원: market_trend / risk / economy / rates / inflation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macro_regime: Risk-On | Risk-Off | Transitional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한국어 요약(150자): LLM이 결정적 판단 근거 서술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888888"/>
                </a:solidFill>
                <a:latin typeface="Calibri"/>
              </a:rPr>
              <a:t xml:space="preserve">  → PM Agent가 레짐에 따라 팩터 가중치 테이블 선택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" name="footer400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2305050"/>
                <a:gridCol w="23050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</a:rPr>
                        <a:t xml:space="preserve">   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Bodon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</a:rPr>
                        <a:t>H-MAS – [4]</a:t>
                      </a:r>
                      <a:endParaRPr b="0" sz="500" u="none" cap="none" strike="noStrike">
                        <a:latin typeface="Calibr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401" name="bar401"/>
          <p:cNvSpPr/>
          <p:nvPr/>
        </p:nvSpPr>
        <p:spPr>
          <a:xfrm>
            <a:off x="0" y="49"/>
            <a:ext cx="4610100" cy="270000"/>
          </a:xfrm>
          <a:custGeom>
            <a:rect b="b" l="l" r="r" t="t"/>
            <a:pathLst>
              <a:path extrusionOk="0" h="270000" w="4610100">
                <a:moveTo>
                  <a:pt x="4610100" y="0"/>
                </a:moveTo>
                <a:lnTo>
                  <a:pt x="0" y="0"/>
                </a:lnTo>
                <a:lnTo>
                  <a:pt x="0" y="270000"/>
                </a:lnTo>
                <a:lnTo>
                  <a:pt x="4610100" y="270000"/>
                </a:lnTo>
                <a:lnTo>
                  <a:pt x="4610100" y="0"/>
                </a:lnTo>
                <a:close/>
              </a:path>
            </a:pathLst>
          </a:custGeom>
          <a:solidFill>
            <a:srgbClr val="161C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2" name="title402"/>
          <p:cNvSpPr txBox="1"/>
          <p:nvPr/>
        </p:nvSpPr>
        <p:spPr>
          <a:xfrm>
            <a:off x="95250" y="20000"/>
            <a:ext cx="4420000" cy="24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0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0">
                <a:solidFill>
                  <a:schemeClr val="lt1"/>
                </a:solidFill>
                <a:latin typeface="Calibri"/>
              </a:rPr>
              <a:t>3.  기술적/정량적 분석  (Technical + Quant Agent)</a:t>
            </a:r>
            <a:endParaRPr sz="1050">
              <a:solidFill>
                <a:schemeClr val="lt1"/>
              </a:solidFill>
            </a:endParaRPr>
          </a:p>
        </p:txBody>
      </p:sp>
      <p:sp>
        <p:nvSpPr>
          <p:cNvPr id="403" name="body403"/>
          <p:cNvSpPr txBox="1"/>
          <p:nvPr/>
        </p:nvSpPr>
        <p:spPr>
          <a:xfrm>
            <a:off x="200000" y="320000"/>
            <a:ext cx="4150000" cy="28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0000" lIns="60000" spcFirstLastPara="0" rIns="60000" wrap="square" tIns="3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1050">
                <a:solidFill>
                  <a:srgbClr val="161C3C"/>
                </a:solidFill>
                <a:latin typeface="Calibri"/>
              </a:rPr>
              <a:t>Technical Agent — 기술적 지표 스트리밍 분석  (O(1))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EMA (12/26): 추세 방향 포착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MACD (12/26/9): 크로스오버 신호  →  Score &gt; 70 조건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RSI-14 (Wilder): &gt; 70 과매수 시 기술점수 상한 60 캡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Bollinger Band Width: Welford 온라인 분산  (O(1) 공간)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RoC-5 / RoC-21: 원형 버퍼 기반 단·중기 모멘텀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60">
                <a:solidFill>
                  <a:srgbClr val="666666"/>
                </a:solidFill>
                <a:latin typeface="Calibri"/>
              </a:rPr>
              <a:t xml:space="preserve">  ※ MACD 크로스오버 + RSI 모멘텀 일치 시에만 고점수 부여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1050">
                <a:solidFill>
                  <a:srgbClr val="161C3C"/>
                </a:solidFill>
                <a:latin typeface="Calibri"/>
              </a:rPr>
              <a:t>Quant Agent — 재무 5차원 정량 평가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수익성: ROE &gt; 15%  →  높은 가중치  (기관 기준선)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가치: PER / PBR 저평가 여부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현금흐름: FCF 마진 &gt; 10%  →  현금창출 프리미엄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재무건전성: D/E &gt; 2.0  →  Hard Sell 플래그  (리스크 게이트)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성장성: 매출/EPS YoY RoC 모멘텀 보정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0" name="footer500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2305050"/>
                <a:gridCol w="23050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</a:rPr>
                        <a:t xml:space="preserve">   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Bodon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</a:rPr>
                        <a:t>H-MAS – [5]</a:t>
                      </a:r>
                      <a:endParaRPr b="0" sz="500" u="none" cap="none" strike="noStrike">
                        <a:latin typeface="Calibr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501" name="bar501"/>
          <p:cNvSpPr/>
          <p:nvPr/>
        </p:nvSpPr>
        <p:spPr>
          <a:xfrm>
            <a:off x="0" y="49"/>
            <a:ext cx="4610100" cy="270000"/>
          </a:xfrm>
          <a:custGeom>
            <a:rect b="b" l="l" r="r" t="t"/>
            <a:pathLst>
              <a:path extrusionOk="0" h="270000" w="4610100">
                <a:moveTo>
                  <a:pt x="4610100" y="0"/>
                </a:moveTo>
                <a:lnTo>
                  <a:pt x="0" y="0"/>
                </a:lnTo>
                <a:lnTo>
                  <a:pt x="0" y="270000"/>
                </a:lnTo>
                <a:lnTo>
                  <a:pt x="4610100" y="270000"/>
                </a:lnTo>
                <a:lnTo>
                  <a:pt x="4610100" y="0"/>
                </a:lnTo>
                <a:close/>
              </a:path>
            </a:pathLst>
          </a:custGeom>
          <a:solidFill>
            <a:srgbClr val="161C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2" name="title502"/>
          <p:cNvSpPr txBox="1"/>
          <p:nvPr/>
        </p:nvSpPr>
        <p:spPr>
          <a:xfrm>
            <a:off x="95250" y="20000"/>
            <a:ext cx="4420000" cy="24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0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0">
                <a:solidFill>
                  <a:schemeClr val="lt1"/>
                </a:solidFill>
                <a:latin typeface="Calibri"/>
              </a:rPr>
              <a:t>4.  포트폴리오 관리 전략  (PM Agent)</a:t>
            </a:r>
            <a:endParaRPr sz="1050">
              <a:solidFill>
                <a:schemeClr val="lt1"/>
              </a:solidFill>
            </a:endParaRPr>
          </a:p>
        </p:txBody>
      </p:sp>
      <p:sp>
        <p:nvSpPr>
          <p:cNvPr id="503" name="body503"/>
          <p:cNvSpPr txBox="1"/>
          <p:nvPr/>
        </p:nvSpPr>
        <p:spPr>
          <a:xfrm>
            <a:off x="200000" y="320000"/>
            <a:ext cx="4150000" cy="28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0000" lIns="60000" spcFirstLastPara="0" rIns="60000" wrap="square" tIns="3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1150">
                <a:solidFill>
                  <a:srgbClr val="161C3C"/>
                </a:solidFill>
                <a:latin typeface="Calibri"/>
              </a:rPr>
              <a:t>PM Agent — 레짐 조건부 팩터 가중치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830">
                <a:solidFill>
                  <a:srgbClr val="1A6B3C"/>
                </a:solidFill>
                <a:latin typeface="Calibri"/>
              </a:rPr>
              <a:t xml:space="preserve">  Risk-On   :  Technical 40%  /  Fundamental 35%  /  Qualitative 25%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830">
                <a:solidFill>
                  <a:srgbClr val="8B1A1A"/>
                </a:solidFill>
                <a:latin typeface="Calibri"/>
              </a:rPr>
              <a:t xml:space="preserve">  Risk-Off  :  Technical 15%  /  Fundamental 60%  /  Qualitative 25%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830">
                <a:solidFill>
                  <a:srgbClr val="7B5500"/>
                </a:solidFill>
                <a:latin typeface="Calibri"/>
              </a:rPr>
              <a:t xml:space="preserve">  Transitional:  Technical 30%  /  Fundamental 45%  /  Qualitative 25%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780">
                <a:solidFill>
                  <a:srgbClr val="161C3C"/>
                </a:solidFill>
                <a:latin typeface="Calibri"/>
              </a:rPr>
              <a:t>전략 A — TopK 방식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매 리밸런싱 시 PM 점수 상위 K 종목만 보유  (나머지 전량 매도)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균등 비중 배분 / 집중도 높음  →  알파 추구형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780">
                <a:solidFill>
                  <a:srgbClr val="161C3C"/>
                </a:solidFill>
                <a:latin typeface="Calibri"/>
              </a:rPr>
              <a:t>전략 B — Threshold 방식 (기본)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매수: 점수 &gt;= buy_threshold  (기본 70)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매도: 점수 &lt;= sell_threshold  (기본 50)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보유 유지: 50 &lt; 점수 &lt; 70  (불필요한 회전율 억제)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통과 종목 전부 균등 비중  →  분산 중시형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60">
                <a:solidFill>
                  <a:srgbClr val="666666"/>
                </a:solidFill>
                <a:latin typeface="Calibri"/>
              </a:rPr>
              <a:t xml:space="preserve">  ※ Risk-Off 시: 방어적 할인 적용  (예외: 고재무 점수 종목)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" name="footer600"/>
          <p:cNvGraphicFramePr/>
          <p:nvPr/>
        </p:nvGraphicFramePr>
        <p:xfrm>
          <a:off x="0" y="325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{35A96633-FC0D-4E29-B83C-566DAA5C54E1}</a:tableStyleId>
              </a:tblPr>
              <a:tblGrid>
                <a:gridCol w="2305050"/>
                <a:gridCol w="2305050"/>
              </a:tblGrid>
              <a:tr h="1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Bodoni"/>
                        </a:rPr>
                        <a:t xml:space="preserve">   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Bodon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500" u="none" cap="none" strike="noStrike">
                          <a:solidFill>
                            <a:schemeClr val="lt1"/>
                          </a:solidFill>
                          <a:latin typeface="Calibri"/>
                        </a:rPr>
                        <a:t>H-MAS – [6]</a:t>
                      </a:r>
                      <a:endParaRPr b="0" sz="500" u="none" cap="none" strike="noStrike">
                        <a:latin typeface="Calibri"/>
                      </a:endParaRPr>
                    </a:p>
                  </a:txBody>
                  <a:tcPr marT="25200" marB="25200" marR="91450" marL="91450" anchor="ctr">
                    <a:solidFill>
                      <a:srgbClr val="161C3C"/>
                    </a:solidFill>
                  </a:tcPr>
                </a:tc>
              </a:tr>
            </a:tbl>
          </a:graphicData>
        </a:graphic>
      </p:graphicFrame>
      <p:sp>
        <p:nvSpPr>
          <p:cNvPr id="601" name="bar601"/>
          <p:cNvSpPr/>
          <p:nvPr/>
        </p:nvSpPr>
        <p:spPr>
          <a:xfrm>
            <a:off x="0" y="49"/>
            <a:ext cx="4610100" cy="270000"/>
          </a:xfrm>
          <a:custGeom>
            <a:rect b="b" l="l" r="r" t="t"/>
            <a:pathLst>
              <a:path extrusionOk="0" h="270000" w="4610100">
                <a:moveTo>
                  <a:pt x="4610100" y="0"/>
                </a:moveTo>
                <a:lnTo>
                  <a:pt x="0" y="0"/>
                </a:lnTo>
                <a:lnTo>
                  <a:pt x="0" y="270000"/>
                </a:lnTo>
                <a:lnTo>
                  <a:pt x="4610100" y="270000"/>
                </a:lnTo>
                <a:lnTo>
                  <a:pt x="4610100" y="0"/>
                </a:lnTo>
                <a:close/>
              </a:path>
            </a:pathLst>
          </a:custGeom>
          <a:solidFill>
            <a:srgbClr val="161C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2" name="title602"/>
          <p:cNvSpPr txBox="1"/>
          <p:nvPr/>
        </p:nvSpPr>
        <p:spPr>
          <a:xfrm>
            <a:off x="95250" y="20000"/>
            <a:ext cx="4420000" cy="24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0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0">
                <a:solidFill>
                  <a:schemeClr val="lt1"/>
                </a:solidFill>
                <a:latin typeface="Calibri"/>
              </a:rPr>
              <a:t>5.  백테스트 결과 및 결론</a:t>
            </a:r>
            <a:endParaRPr sz="1050">
              <a:solidFill>
                <a:schemeClr val="lt1"/>
              </a:solidFill>
            </a:endParaRPr>
          </a:p>
        </p:txBody>
      </p:sp>
      <p:sp>
        <p:nvSpPr>
          <p:cNvPr id="603" name="body603"/>
          <p:cNvSpPr txBox="1"/>
          <p:nvPr/>
        </p:nvSpPr>
        <p:spPr>
          <a:xfrm>
            <a:off x="200000" y="320000"/>
            <a:ext cx="4150000" cy="28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0000" lIns="60000" spcFirstLastPara="0" rIns="60000" wrap="square" tIns="3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1150">
                <a:solidFill>
                  <a:srgbClr val="161C3C"/>
                </a:solidFill>
                <a:latin typeface="Calibri"/>
              </a:rPr>
              <a:t>백테스트 설계  (hmas_agent_backtest.py)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대상 유니버스: KOSPI 주요 종목  (005930·000660·005380·035420 등)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기간: 2022-01-01 ~ 2024-12-31  (3개년)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리밸런싱: 월 1회 / 에이전트 점수 기준 포트 재편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벤치마크: KOSPI Index 총수익률 비교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780">
                <a:solidFill>
                  <a:srgbClr val="161C3C"/>
                </a:solidFill>
                <a:latin typeface="Calibri"/>
              </a:rPr>
              <a:t>평가 지표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누적수익률 / 연환산 수익률(CAGR)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MDD (최대 낙폭) · Sharpe Ratio · 회전율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Stub 모드: API 없이 구조 검증  /  Live 모드: 실제 에이전트 신호 사용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en-US" sz="500">
                <a:solidFill>
                  <a:srgbClr val="ffffff"/>
                </a:solidFill>
              </a:rPr>
              <a:t xml:space="preserve"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lang="ko-KR" sz="780">
                <a:solidFill>
                  <a:srgbClr val="161C3C"/>
                </a:solidFill>
                <a:latin typeface="Calibri"/>
              </a:rPr>
              <a:t>결론 및 향후 과제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레짐 조건부 가중치  →  단순 동일가중 대비 리스크 조정 성과 개선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Hard Sell 플래그(D/E&gt;2.0)  →  하방 리스크 완충에 기여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ML 기반 동적 가중치 탐색  (hmas_backtest_ml.py)  →  후속 연구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b="0" lang="ko-KR" sz="780">
                <a:solidFill>
                  <a:srgbClr val="333333"/>
                </a:solidFill>
                <a:latin typeface="Calibri"/>
              </a:rPr>
              <a:t xml:space="preserve">  DART 공시 실시간 연동 + 뉴스 감성 파이프라인 고도화 예정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